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558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819841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979421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6710216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861641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7664441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345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5828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23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2780C9-0F3D-6270-1803-31B1DE6F7E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8692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7113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202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6B039E-6551-E46F-F035-E7E3484BD5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911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043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91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029626-D874-AF03-EABB-ECC7D7889D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3848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8676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3F6EE6-80CB-A66A-F874-80F096ACD3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8417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116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51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9C6067-DA5B-3AD6-8FB6-4F08F54A0F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8902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838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875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0B6B6-FFCF-6032-6E86-E54B48AF56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348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7189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651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885ED-7563-A600-6DA2-EF4058A262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349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414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2060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9296E-084C-BD3A-6AD9-44B67E17D1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524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3929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8695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C6DCBE-3B81-6349-9A36-E7E7EE5055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53935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326944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140200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859351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22966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0508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28759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00902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252160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40935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99674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98783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07084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035330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95894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6139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38370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9620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0234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725961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07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7002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54331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7280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296947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650115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318533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9695758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115936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1987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806750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8264355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090847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94639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6758033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46435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03397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174121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38944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606958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65368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29836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05838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574293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7749200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08336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635427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8089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5492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315643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05654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285557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57472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0360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412548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886080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71980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08123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8194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0303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600735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227063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34258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6104466" name="Group 2"/>
          <p:cNvGrpSpPr/>
          <p:nvPr/>
        </p:nvGrpSpPr>
        <p:grpSpPr bwMode="auto">
          <a:xfrm rot="0">
            <a:off x="1364456" y="1364456"/>
            <a:ext cx="15558630" cy="7558088"/>
            <a:chOff x="0" y="0"/>
            <a:chExt cx="20744840" cy="1007745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0744814" cy="10077450"/>
            </a:xfrm>
            <a:custGeom>
              <a:avLst/>
              <a:gdLst/>
              <a:ahLst/>
              <a:cxnLst/>
              <a:rect l="l" t="t" r="r" b="b"/>
              <a:pathLst>
                <a:path w="20744814" h="10077450" fill="norm" stroke="1" extrusionOk="0">
                  <a:moveTo>
                    <a:pt x="0" y="1679575"/>
                  </a:moveTo>
                  <a:cubicBezTo>
                    <a:pt x="0" y="751967"/>
                    <a:pt x="751967" y="0"/>
                    <a:pt x="1679575" y="0"/>
                  </a:cubicBezTo>
                  <a:lnTo>
                    <a:pt x="19065239" y="0"/>
                  </a:lnTo>
                  <a:cubicBezTo>
                    <a:pt x="19992848" y="0"/>
                    <a:pt x="20744814" y="751967"/>
                    <a:pt x="20744814" y="1679575"/>
                  </a:cubicBezTo>
                  <a:lnTo>
                    <a:pt x="20744814" y="8397875"/>
                  </a:lnTo>
                  <a:cubicBezTo>
                    <a:pt x="20744814" y="9325483"/>
                    <a:pt x="19992848" y="10077450"/>
                    <a:pt x="19065239" y="10077450"/>
                  </a:cubicBezTo>
                  <a:lnTo>
                    <a:pt x="1679575" y="10077450"/>
                  </a:lnTo>
                  <a:cubicBezTo>
                    <a:pt x="751967" y="10077450"/>
                    <a:pt x="0" y="9325483"/>
                    <a:pt x="0" y="839787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id="168684099" name="Group 4"/>
          <p:cNvGrpSpPr/>
          <p:nvPr/>
        </p:nvGrpSpPr>
        <p:grpSpPr bwMode="auto">
          <a:xfrm rot="0">
            <a:off x="2057400" y="2057400"/>
            <a:ext cx="4389120" cy="4389120"/>
            <a:chOff x="0" y="0"/>
            <a:chExt cx="5852160" cy="5852160"/>
          </a:xfrm>
        </p:grpSpPr>
        <p:sp>
          <p:nvSpPr>
            <p:cNvPr id="5" name="Freeform 5" descr="project_logo.png"/>
            <p:cNvSpPr/>
            <p:nvPr/>
          </p:nvSpPr>
          <p:spPr bwMode="auto">
            <a:xfrm rot="0" flipH="0" flipV="0">
              <a:off x="0" y="0"/>
              <a:ext cx="5852160" cy="5852160"/>
            </a:xfrm>
            <a:custGeom>
              <a:avLst/>
              <a:gdLst/>
              <a:ahLst/>
              <a:cxnLst/>
              <a:rect l="l" t="t" r="r" b="b"/>
              <a:pathLst>
                <a:path w="5852160" h="5852160" fill="norm" stroke="1" extrusionOk="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0" r="0" b="0"/>
              </a:stretch>
            </a:blipFill>
          </p:spPr>
        </p:sp>
      </p:grpSp>
      <p:sp>
        <p:nvSpPr>
          <p:cNvPr id="1162038358" name="TextBox 6"/>
          <p:cNvSpPr txBox="1"/>
          <p:nvPr/>
        </p:nvSpPr>
        <p:spPr bwMode="auto">
          <a:xfrm rot="0">
            <a:off x="6949440" y="2221230"/>
            <a:ext cx="9144000" cy="568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  <a:defRPr/>
            </a:pPr>
            <a:r>
              <a:rPr lang="en-US" sz="4500" b="1">
                <a:solidFill>
                  <a:srgbClr val="F8FAFC"/>
                </a:solidFill>
                <a:latin typeface="Georgia Bold"/>
                <a:ea typeface="Georgia Bold"/>
                <a:cs typeface="Georgia Bold"/>
              </a:rPr>
              <a:t>Microcontroller Diagnostics Service</a:t>
            </a:r>
            <a:endParaRPr/>
          </a:p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38BDF8"/>
                </a:solidFill>
                <a:latin typeface="Arial"/>
                <a:ea typeface="Arial"/>
                <a:cs typeface="Arial"/>
              </a:rPr>
              <a:t>Real-time Hardware Monitoring, Non-Volatile DTC Logging &amp; Serial Interface on ATmega32</a:t>
            </a:r>
            <a:endParaRPr/>
          </a:p>
          <a:p>
            <a:pPr algn="l">
              <a:lnSpc>
                <a:spcPts val="2340"/>
              </a:lnSpc>
              <a:defRPr/>
            </a:pPr>
            <a:r>
              <a:rPr lang="en-US" sz="1950">
                <a:solidFill>
                  <a:srgbClr val="94A3B8"/>
                </a:solidFill>
                <a:latin typeface="Arial"/>
                <a:ea typeface="Arial"/>
                <a:cs typeface="Arial"/>
              </a:rPr>
              <a:t>• Embedded Sensors: LM35 (Heat) &amp; Potentiometer (Voltage)</a:t>
            </a:r>
            <a:endParaRPr/>
          </a:p>
          <a:p>
            <a:pPr algn="l">
              <a:lnSpc>
                <a:spcPts val="2340"/>
              </a:lnSpc>
              <a:defRPr/>
            </a:pPr>
            <a:r>
              <a:rPr lang="en-US" sz="1950">
                <a:solidFill>
                  <a:srgbClr val="94A3B8"/>
                </a:solidFill>
                <a:latin typeface="Arial"/>
                <a:ea typeface="Arial"/>
                <a:cs typeface="Arial"/>
              </a:rPr>
              <a:t>• Alarm System: Red LED Fault Indicator</a:t>
            </a:r>
            <a:endParaRPr/>
          </a:p>
          <a:p>
            <a:pPr algn="l">
              <a:lnSpc>
                <a:spcPts val="2340"/>
              </a:lnSpc>
              <a:defRPr/>
            </a:pPr>
            <a:r>
              <a:rPr lang="en-US" sz="1950">
                <a:solidFill>
                  <a:srgbClr val="94A3B8"/>
                </a:solidFill>
                <a:latin typeface="Arial"/>
                <a:ea typeface="Arial"/>
                <a:cs typeface="Arial"/>
              </a:rPr>
              <a:t>• Memory &amp; Serial: Internal EEPROM &amp; UART Terminal ('123' Trigger)</a:t>
            </a:r>
            <a:endParaRPr/>
          </a:p>
          <a:p>
            <a:pPr algn="l">
              <a:lnSpc>
                <a:spcPts val="2520"/>
              </a:lnSpc>
              <a:defRPr/>
            </a:pPr>
            <a:r>
              <a:rPr lang="en-US" sz="2100" b="1">
                <a:solidFill>
                  <a:srgbClr val="FB923C"/>
                </a:solidFill>
                <a:latin typeface="Arial Bold"/>
                <a:ea typeface="Arial Bold"/>
                <a:cs typeface="Arial Bold"/>
              </a:rPr>
              <a:t>Engineering Team: Group 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619221" name="TextBox 2"/>
          <p:cNvSpPr txBox="1"/>
          <p:nvPr/>
        </p:nvSpPr>
        <p:spPr bwMode="auto">
          <a:xfrm rot="0">
            <a:off x="1188720" y="575310"/>
            <a:ext cx="158648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/>
            </a:pPr>
            <a:r>
              <a:rPr lang="en-US" sz="1650" b="1">
                <a:solidFill>
                  <a:srgbClr val="38BDF8"/>
                </a:solidFill>
                <a:latin typeface="Arial Bold"/>
                <a:ea typeface="Arial Bold"/>
                <a:cs typeface="Arial Bold"/>
              </a:rPr>
              <a:t>GROUP 3 DIAGNOSTICS SERVICE</a:t>
            </a:r>
            <a:endParaRPr/>
          </a:p>
        </p:txBody>
      </p:sp>
      <p:sp>
        <p:nvSpPr>
          <p:cNvPr id="1965127227" name="TextBox 3"/>
          <p:cNvSpPr txBox="1"/>
          <p:nvPr/>
        </p:nvSpPr>
        <p:spPr bwMode="auto">
          <a:xfrm rot="0">
            <a:off x="1188720" y="996315"/>
            <a:ext cx="15864840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defRPr/>
            </a:pPr>
            <a:r>
              <a:rPr lang="en-US" sz="3600" b="1">
                <a:solidFill>
                  <a:srgbClr val="F8FAFC"/>
                </a:solidFill>
                <a:latin typeface="Georgia Bold"/>
                <a:ea typeface="Georgia Bold"/>
                <a:cs typeface="Georgia Bold"/>
              </a:rPr>
              <a:t>Engineering Team &amp; Work Breakdown Structure (WBS)</a:t>
            </a:r>
            <a:endParaRPr/>
          </a:p>
        </p:txBody>
      </p:sp>
      <p:grpSp>
        <p:nvGrpSpPr>
          <p:cNvPr id="2001375622" name="Group 4"/>
          <p:cNvGrpSpPr/>
          <p:nvPr/>
        </p:nvGrpSpPr>
        <p:grpSpPr bwMode="auto">
          <a:xfrm rot="0">
            <a:off x="1097280" y="2057400"/>
            <a:ext cx="16092982" cy="38100"/>
            <a:chOff x="0" y="0"/>
            <a:chExt cx="21457309" cy="508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457286" cy="50800"/>
            </a:xfrm>
            <a:custGeom>
              <a:avLst/>
              <a:gdLst/>
              <a:ahLst/>
              <a:cxnLst/>
              <a:rect l="l" t="t" r="r" b="b"/>
              <a:pathLst>
                <a:path w="21457286" h="50800" fill="norm" stroke="1" extrusionOk="0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205116901" name="Group 6"/>
          <p:cNvGrpSpPr/>
          <p:nvPr/>
        </p:nvGrpSpPr>
        <p:grpSpPr bwMode="auto">
          <a:xfrm rot="0">
            <a:off x="1090136" y="2461736"/>
            <a:ext cx="7832407" cy="3306128"/>
            <a:chOff x="0" y="0"/>
            <a:chExt cx="10443210" cy="440817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0443210" cy="4408170"/>
            </a:xfrm>
            <a:custGeom>
              <a:avLst/>
              <a:gdLst/>
              <a:ahLst/>
              <a:cxnLst/>
              <a:rect l="l" t="t" r="r" b="b"/>
              <a:pathLst>
                <a:path w="10443210" h="4408170" fill="norm" stroke="1" extrusionOk="0">
                  <a:moveTo>
                    <a:pt x="0" y="734695"/>
                  </a:moveTo>
                  <a:cubicBezTo>
                    <a:pt x="0" y="328930"/>
                    <a:pt x="328930" y="0"/>
                    <a:pt x="734695" y="0"/>
                  </a:cubicBezTo>
                  <a:lnTo>
                    <a:pt x="9708514" y="0"/>
                  </a:lnTo>
                  <a:cubicBezTo>
                    <a:pt x="10114280" y="0"/>
                    <a:pt x="10443210" y="328930"/>
                    <a:pt x="10443210" y="734695"/>
                  </a:cubicBezTo>
                  <a:lnTo>
                    <a:pt x="10443210" y="3673475"/>
                  </a:lnTo>
                  <a:cubicBezTo>
                    <a:pt x="10443210" y="4079240"/>
                    <a:pt x="10114280" y="4408170"/>
                    <a:pt x="9708515" y="4408170"/>
                  </a:cubicBezTo>
                  <a:lnTo>
                    <a:pt x="734695" y="4408170"/>
                  </a:lnTo>
                  <a:cubicBezTo>
                    <a:pt x="328930" y="4408170"/>
                    <a:pt x="0" y="4079240"/>
                    <a:pt x="0" y="367347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id="695092036" name="TextBox 8"/>
          <p:cNvSpPr txBox="1"/>
          <p:nvPr/>
        </p:nvSpPr>
        <p:spPr bwMode="auto">
          <a:xfrm rot="0">
            <a:off x="1463040" y="2720340"/>
            <a:ext cx="7088759" cy="2011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 b="1">
                <a:solidFill>
                  <a:srgbClr val="FB923C"/>
                </a:solidFill>
                <a:latin typeface="Georgia Bold"/>
                <a:ea typeface="Georgia Bold"/>
                <a:cs typeface="Georgia Bold"/>
              </a:rPr>
              <a:t>Filopatir Samir Sobhy </a:t>
            </a:r>
            <a:r>
              <a:rPr lang="ar-EG" sz="2400" b="1">
                <a:solidFill>
                  <a:srgbClr val="FB923C"/>
                </a:solidFill>
                <a:latin typeface="Georgia Bold"/>
                <a:ea typeface="Georgia Bold"/>
                <a:cs typeface="Georgia Bold"/>
              </a:rPr>
              <a:t>فيلوباتير سمير صبحي</a:t>
            </a:r>
            <a:r>
              <a:rPr lang="en-US" sz="2400" b="1">
                <a:solidFill>
                  <a:srgbClr val="FB923C"/>
                </a:solidFill>
                <a:latin typeface="Georgia Bold"/>
                <a:ea typeface="Georgia Bold"/>
                <a:cs typeface="Georgia Bold"/>
              </a:rPr>
              <a:t>    </a:t>
            </a:r>
            <a:endParaRPr/>
          </a:p>
          <a:p>
            <a:pPr algn="l">
              <a:lnSpc>
                <a:spcPts val="4320"/>
              </a:lnSpc>
              <a:defRPr/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Hardware Schematic Design (Proteus)</a:t>
            </a:r>
            <a:endParaRPr/>
          </a:p>
          <a:p>
            <a:pPr algn="l">
              <a:lnSpc>
                <a:spcPts val="4320"/>
              </a:lnSpc>
              <a:defRPr/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LM35 Sensor Driver &amp; Red LED Logic</a:t>
            </a:r>
            <a:endParaRPr/>
          </a:p>
          <a:p>
            <a:pPr algn="l">
              <a:lnSpc>
                <a:spcPts val="4320"/>
              </a:lnSpc>
              <a:defRPr/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Presentaion Slides</a:t>
            </a:r>
            <a:endParaRPr/>
          </a:p>
        </p:txBody>
      </p:sp>
      <p:grpSp>
        <p:nvGrpSpPr>
          <p:cNvPr id="1480199058" name="Group 9"/>
          <p:cNvGrpSpPr/>
          <p:nvPr/>
        </p:nvGrpSpPr>
        <p:grpSpPr bwMode="auto">
          <a:xfrm rot="0">
            <a:off x="9319736" y="2461736"/>
            <a:ext cx="7832407" cy="3306128"/>
            <a:chOff x="0" y="0"/>
            <a:chExt cx="10443210" cy="440817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0443210" cy="4408170"/>
            </a:xfrm>
            <a:custGeom>
              <a:avLst/>
              <a:gdLst/>
              <a:ahLst/>
              <a:cxnLst/>
              <a:rect l="l" t="t" r="r" b="b"/>
              <a:pathLst>
                <a:path w="10443210" h="4408170" fill="norm" stroke="1" extrusionOk="0">
                  <a:moveTo>
                    <a:pt x="0" y="734695"/>
                  </a:moveTo>
                  <a:cubicBezTo>
                    <a:pt x="0" y="328930"/>
                    <a:pt x="328930" y="0"/>
                    <a:pt x="734695" y="0"/>
                  </a:cubicBezTo>
                  <a:lnTo>
                    <a:pt x="9708514" y="0"/>
                  </a:lnTo>
                  <a:cubicBezTo>
                    <a:pt x="10114280" y="0"/>
                    <a:pt x="10443210" y="328930"/>
                    <a:pt x="10443210" y="734695"/>
                  </a:cubicBezTo>
                  <a:lnTo>
                    <a:pt x="10443210" y="3673475"/>
                  </a:lnTo>
                  <a:cubicBezTo>
                    <a:pt x="10443210" y="4079240"/>
                    <a:pt x="10114280" y="4408170"/>
                    <a:pt x="9708515" y="4408170"/>
                  </a:cubicBezTo>
                  <a:lnTo>
                    <a:pt x="734695" y="4408170"/>
                  </a:lnTo>
                  <a:cubicBezTo>
                    <a:pt x="328930" y="4408170"/>
                    <a:pt x="0" y="4079240"/>
                    <a:pt x="0" y="367347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id="2146265576" name="TextBox 11"/>
          <p:cNvSpPr txBox="1"/>
          <p:nvPr/>
        </p:nvSpPr>
        <p:spPr bwMode="auto">
          <a:xfrm rot="0">
            <a:off x="9692640" y="2720340"/>
            <a:ext cx="7091639" cy="109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 b="1">
                <a:solidFill>
                  <a:srgbClr val="38BDF8"/>
                </a:solidFill>
                <a:latin typeface="Georgia Bold"/>
                <a:ea typeface="Georgia Bold"/>
                <a:cs typeface="Georgia Bold"/>
              </a:rPr>
              <a:t>Mina Saber </a:t>
            </a:r>
            <a:r>
              <a:rPr lang="ar-EG" sz="2400" b="1">
                <a:solidFill>
                  <a:srgbClr val="38BDF8"/>
                </a:solidFill>
                <a:latin typeface="Georgia Bold"/>
                <a:ea typeface="Georgia Bold"/>
                <a:cs typeface="Georgia Bold"/>
              </a:rPr>
              <a:t>مينا صابر</a:t>
            </a:r>
            <a:r>
              <a:rPr lang="en-US" sz="2400" b="1">
                <a:solidFill>
                  <a:srgbClr val="38BDF8"/>
                </a:solidFill>
                <a:latin typeface="Georgia Bold"/>
                <a:ea typeface="Georgia Bold"/>
                <a:cs typeface="Georgia Bold"/>
              </a:rPr>
              <a:t>          </a:t>
            </a:r>
            <a:endParaRPr/>
          </a:p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Hardware Schematic Design (Proteus)</a:t>
            </a:r>
            <a:endParaRPr/>
          </a:p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Potentiometer Driver &amp; ADC Calibration</a:t>
            </a:r>
            <a:endParaRPr/>
          </a:p>
        </p:txBody>
      </p:sp>
      <p:grpSp>
        <p:nvGrpSpPr>
          <p:cNvPr id="692508169" name="Group 12"/>
          <p:cNvGrpSpPr/>
          <p:nvPr/>
        </p:nvGrpSpPr>
        <p:grpSpPr bwMode="auto">
          <a:xfrm rot="0">
            <a:off x="1090136" y="6165056"/>
            <a:ext cx="7832407" cy="3306128"/>
            <a:chOff x="0" y="0"/>
            <a:chExt cx="10443210" cy="4408170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10443210" cy="4408170"/>
            </a:xfrm>
            <a:custGeom>
              <a:avLst/>
              <a:gdLst/>
              <a:ahLst/>
              <a:cxnLst/>
              <a:rect l="l" t="t" r="r" b="b"/>
              <a:pathLst>
                <a:path w="10443210" h="4408170" fill="norm" stroke="1" extrusionOk="0">
                  <a:moveTo>
                    <a:pt x="0" y="734695"/>
                  </a:moveTo>
                  <a:cubicBezTo>
                    <a:pt x="0" y="328930"/>
                    <a:pt x="328930" y="0"/>
                    <a:pt x="734695" y="0"/>
                  </a:cubicBezTo>
                  <a:lnTo>
                    <a:pt x="9708514" y="0"/>
                  </a:lnTo>
                  <a:cubicBezTo>
                    <a:pt x="10114280" y="0"/>
                    <a:pt x="10443210" y="328930"/>
                    <a:pt x="10443210" y="734695"/>
                  </a:cubicBezTo>
                  <a:lnTo>
                    <a:pt x="10443210" y="3673475"/>
                  </a:lnTo>
                  <a:cubicBezTo>
                    <a:pt x="10443210" y="4079240"/>
                    <a:pt x="10114280" y="4408170"/>
                    <a:pt x="9708515" y="4408170"/>
                  </a:cubicBezTo>
                  <a:lnTo>
                    <a:pt x="734695" y="4408170"/>
                  </a:lnTo>
                  <a:cubicBezTo>
                    <a:pt x="328930" y="4408170"/>
                    <a:pt x="0" y="4079240"/>
                    <a:pt x="0" y="367347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id="1497497955" name="TextBox 14"/>
          <p:cNvSpPr txBox="1"/>
          <p:nvPr/>
        </p:nvSpPr>
        <p:spPr bwMode="auto">
          <a:xfrm rot="0">
            <a:off x="1463040" y="6423660"/>
            <a:ext cx="7092719" cy="109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 b="1">
                <a:solidFill>
                  <a:srgbClr val="4ADE80"/>
                </a:solidFill>
                <a:latin typeface="Georgia Bold"/>
                <a:ea typeface="Georgia Bold"/>
                <a:cs typeface="Georgia Bold"/>
              </a:rPr>
              <a:t>Mohamed Kaoud </a:t>
            </a:r>
            <a:r>
              <a:rPr lang="ar-EG" sz="2400" b="1">
                <a:solidFill>
                  <a:srgbClr val="4ADE80"/>
                </a:solidFill>
                <a:latin typeface="Georgia Bold"/>
                <a:ea typeface="Georgia Bold"/>
                <a:cs typeface="Georgia Bold"/>
              </a:rPr>
              <a:t>محمد قاعود</a:t>
            </a:r>
            <a:r>
              <a:rPr lang="en-US" sz="2400" b="1">
                <a:solidFill>
                  <a:srgbClr val="4ADE80"/>
                </a:solidFill>
                <a:latin typeface="Georgia Bold"/>
                <a:ea typeface="Georgia Bold"/>
                <a:cs typeface="Georgia Bold"/>
              </a:rPr>
              <a:t>               </a:t>
            </a:r>
            <a:endParaRPr/>
          </a:p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Internal EEPROM Driver Development</a:t>
            </a:r>
            <a:endParaRPr/>
          </a:p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Non-Redundant DTC Storage Logic</a:t>
            </a:r>
            <a:endParaRPr/>
          </a:p>
        </p:txBody>
      </p:sp>
      <p:grpSp>
        <p:nvGrpSpPr>
          <p:cNvPr id="1040300787" name="Group 15"/>
          <p:cNvGrpSpPr/>
          <p:nvPr/>
        </p:nvGrpSpPr>
        <p:grpSpPr bwMode="auto">
          <a:xfrm rot="0">
            <a:off x="9319736" y="6165056"/>
            <a:ext cx="7832407" cy="3306128"/>
            <a:chOff x="0" y="0"/>
            <a:chExt cx="10443210" cy="440817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0443210" cy="4408170"/>
            </a:xfrm>
            <a:custGeom>
              <a:avLst/>
              <a:gdLst/>
              <a:ahLst/>
              <a:cxnLst/>
              <a:rect l="l" t="t" r="r" b="b"/>
              <a:pathLst>
                <a:path w="10443210" h="4408170" fill="norm" stroke="1" extrusionOk="0">
                  <a:moveTo>
                    <a:pt x="0" y="734695"/>
                  </a:moveTo>
                  <a:cubicBezTo>
                    <a:pt x="0" y="328930"/>
                    <a:pt x="328930" y="0"/>
                    <a:pt x="734695" y="0"/>
                  </a:cubicBezTo>
                  <a:lnTo>
                    <a:pt x="9708514" y="0"/>
                  </a:lnTo>
                  <a:cubicBezTo>
                    <a:pt x="10114280" y="0"/>
                    <a:pt x="10443210" y="328930"/>
                    <a:pt x="10443210" y="734695"/>
                  </a:cubicBezTo>
                  <a:lnTo>
                    <a:pt x="10443210" y="3673475"/>
                  </a:lnTo>
                  <a:cubicBezTo>
                    <a:pt x="10443210" y="4079240"/>
                    <a:pt x="10114280" y="4408170"/>
                    <a:pt x="9708515" y="4408170"/>
                  </a:cubicBezTo>
                  <a:lnTo>
                    <a:pt x="734695" y="4408170"/>
                  </a:lnTo>
                  <a:cubicBezTo>
                    <a:pt x="328930" y="4408170"/>
                    <a:pt x="0" y="4079240"/>
                    <a:pt x="0" y="367347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id="980611091" name="TextBox 17"/>
          <p:cNvSpPr txBox="1"/>
          <p:nvPr/>
        </p:nvSpPr>
        <p:spPr bwMode="auto">
          <a:xfrm rot="0">
            <a:off x="9692640" y="6423660"/>
            <a:ext cx="7091279" cy="109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 b="1">
                <a:solidFill>
                  <a:srgbClr val="38BDF8"/>
                </a:solidFill>
                <a:latin typeface="Georgia Bold"/>
                <a:ea typeface="Georgia Bold"/>
                <a:cs typeface="Georgia Bold"/>
              </a:rPr>
              <a:t>Ziad Ayman         </a:t>
            </a:r>
            <a:r>
              <a:rPr lang="ar-EG" sz="2400" b="1">
                <a:solidFill>
                  <a:srgbClr val="38BDF8"/>
                </a:solidFill>
                <a:latin typeface="Georgia Bold"/>
                <a:ea typeface="Georgia Bold"/>
                <a:cs typeface="Georgia Bold"/>
              </a:rPr>
              <a:t>زياد ايمن</a:t>
            </a:r>
            <a:endParaRPr/>
          </a:p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'• Hardware UART Driver &amp; Baud Rate</a:t>
            </a:r>
            <a:endParaRPr/>
          </a:p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Terminal Command Interpreter ('123)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267252" name="TextBox 2"/>
          <p:cNvSpPr txBox="1"/>
          <p:nvPr/>
        </p:nvSpPr>
        <p:spPr bwMode="auto">
          <a:xfrm rot="0">
            <a:off x="1188720" y="575310"/>
            <a:ext cx="158648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/>
            </a:pPr>
            <a:r>
              <a:rPr lang="en-US" sz="1650" b="1">
                <a:solidFill>
                  <a:srgbClr val="38BDF8"/>
                </a:solidFill>
                <a:latin typeface="Arial Bold"/>
                <a:ea typeface="Arial Bold"/>
                <a:cs typeface="Arial Bold"/>
              </a:rPr>
              <a:t>GROUP 3 DIAGNOSTICS SERVICE</a:t>
            </a:r>
            <a:endParaRPr/>
          </a:p>
        </p:txBody>
      </p:sp>
      <p:sp>
        <p:nvSpPr>
          <p:cNvPr id="317811335" name="TextBox 3"/>
          <p:cNvSpPr txBox="1"/>
          <p:nvPr/>
        </p:nvSpPr>
        <p:spPr bwMode="auto">
          <a:xfrm rot="0">
            <a:off x="1188720" y="996315"/>
            <a:ext cx="15864840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defRPr/>
            </a:pPr>
            <a:r>
              <a:rPr lang="en-US" sz="3600" b="1">
                <a:solidFill>
                  <a:srgbClr val="F8FAFC"/>
                </a:solidFill>
                <a:latin typeface="Georgia Bold"/>
                <a:ea typeface="Georgia Bold"/>
                <a:cs typeface="Georgia Bold"/>
              </a:rPr>
              <a:t>System Architecture &amp; High-Level Block Flow</a:t>
            </a:r>
            <a:endParaRPr/>
          </a:p>
        </p:txBody>
      </p:sp>
      <p:grpSp>
        <p:nvGrpSpPr>
          <p:cNvPr id="1563266068" name="Group 4"/>
          <p:cNvGrpSpPr/>
          <p:nvPr/>
        </p:nvGrpSpPr>
        <p:grpSpPr bwMode="auto">
          <a:xfrm rot="0">
            <a:off x="1097280" y="2057400"/>
            <a:ext cx="16092982" cy="38100"/>
            <a:chOff x="0" y="0"/>
            <a:chExt cx="21457309" cy="508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457286" cy="50800"/>
            </a:xfrm>
            <a:custGeom>
              <a:avLst/>
              <a:gdLst/>
              <a:ahLst/>
              <a:cxnLst/>
              <a:rect l="l" t="t" r="r" b="b"/>
              <a:pathLst>
                <a:path w="21457286" h="50800" fill="norm" stroke="1" extrusionOk="0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sp>
        <p:nvSpPr>
          <p:cNvPr id="1092085713" name="TextBox 6"/>
          <p:cNvSpPr txBox="1"/>
          <p:nvPr/>
        </p:nvSpPr>
        <p:spPr bwMode="auto">
          <a:xfrm rot="0">
            <a:off x="1188720" y="2495550"/>
            <a:ext cx="7360920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defRPr/>
            </a:pPr>
            <a:r>
              <a:rPr lang="en-US" sz="3000" b="1">
                <a:solidFill>
                  <a:srgbClr val="38BDF8"/>
                </a:solidFill>
                <a:latin typeface="Georgia Bold"/>
                <a:ea typeface="Georgia Bold"/>
                <a:cs typeface="Georgia Bold"/>
              </a:rPr>
              <a:t>System Key Objectives</a:t>
            </a:r>
            <a:endParaRPr/>
          </a:p>
          <a:p>
            <a:pPr algn="l">
              <a:lnSpc>
                <a:spcPts val="2340"/>
              </a:lnSpc>
              <a:defRPr/>
            </a:pPr>
            <a:r>
              <a:rPr lang="en-US" sz="1950" b="1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</a:rPr>
              <a:t>• Real-time Hardware Sensing: </a:t>
            </a:r>
            <a:r>
              <a:rPr lang="en-US" sz="1950">
                <a:solidFill>
                  <a:srgbClr val="94A3B8"/>
                </a:solidFill>
                <a:latin typeface="Calibri (MS)"/>
                <a:ea typeface="Calibri (MS)"/>
                <a:cs typeface="Calibri (MS)"/>
              </a:rPr>
              <a:t>ADC driver continually samples LM35 temperature and Potentiometer voltage levels.</a:t>
            </a:r>
            <a:endParaRPr/>
          </a:p>
          <a:p>
            <a:pPr algn="l">
              <a:lnSpc>
                <a:spcPts val="2340"/>
              </a:lnSpc>
              <a:defRPr/>
            </a:pPr>
            <a:endParaRPr lang="en-US" sz="1950">
              <a:solidFill>
                <a:srgbClr val="94A3B8"/>
              </a:solidFill>
              <a:latin typeface="Calibri (MS)"/>
              <a:ea typeface="Calibri (MS)"/>
              <a:cs typeface="Calibri (MS)"/>
            </a:endParaRPr>
          </a:p>
          <a:p>
            <a:pPr algn="l">
              <a:lnSpc>
                <a:spcPts val="2340"/>
              </a:lnSpc>
              <a:defRPr/>
            </a:pPr>
            <a:r>
              <a:rPr lang="en-US" sz="1950" b="1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</a:rPr>
              <a:t>• Diagnostic Trouble Codes (DTC): </a:t>
            </a:r>
            <a:r>
              <a:rPr lang="en-US" sz="1950">
                <a:solidFill>
                  <a:srgbClr val="94A3B8"/>
                </a:solidFill>
                <a:latin typeface="Calibri (MS)"/>
                <a:ea typeface="Calibri (MS)"/>
                <a:cs typeface="Calibri (MS)"/>
              </a:rPr>
              <a:t>Standardized hex codes assigned for safety boundary breaches (0x50, 0x51, 0x52).</a:t>
            </a:r>
            <a:endParaRPr/>
          </a:p>
          <a:p>
            <a:pPr algn="l">
              <a:lnSpc>
                <a:spcPts val="2340"/>
              </a:lnSpc>
              <a:defRPr/>
            </a:pPr>
            <a:endParaRPr lang="en-US" sz="1950">
              <a:solidFill>
                <a:srgbClr val="94A3B8"/>
              </a:solidFill>
              <a:latin typeface="Calibri (MS)"/>
              <a:ea typeface="Calibri (MS)"/>
              <a:cs typeface="Calibri (MS)"/>
            </a:endParaRPr>
          </a:p>
          <a:p>
            <a:pPr algn="l">
              <a:lnSpc>
                <a:spcPts val="2340"/>
              </a:lnSpc>
              <a:defRPr/>
            </a:pPr>
            <a:r>
              <a:rPr lang="en-US" sz="1950" b="1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</a:rPr>
              <a:t>• Non-Redundant Logging: </a:t>
            </a:r>
            <a:r>
              <a:rPr lang="en-US" sz="1950">
                <a:solidFill>
                  <a:srgbClr val="94A3B8"/>
                </a:solidFill>
                <a:latin typeface="Calibri (MS)"/>
                <a:ea typeface="Calibri (MS)"/>
                <a:cs typeface="Calibri (MS)"/>
              </a:rPr>
              <a:t>Internal EEPROM driver stores unique fault codes without duplicate write cycles.</a:t>
            </a:r>
            <a:endParaRPr/>
          </a:p>
          <a:p>
            <a:pPr algn="l">
              <a:lnSpc>
                <a:spcPts val="2340"/>
              </a:lnSpc>
              <a:defRPr/>
            </a:pPr>
            <a:endParaRPr lang="en-US" sz="1950">
              <a:solidFill>
                <a:srgbClr val="94A3B8"/>
              </a:solidFill>
              <a:latin typeface="Calibri (MS)"/>
              <a:ea typeface="Calibri (MS)"/>
              <a:cs typeface="Calibri (MS)"/>
            </a:endParaRPr>
          </a:p>
          <a:p>
            <a:pPr algn="l">
              <a:lnSpc>
                <a:spcPts val="2340"/>
              </a:lnSpc>
              <a:defRPr/>
            </a:pPr>
            <a:r>
              <a:rPr lang="en-US" sz="1950" b="1">
                <a:solidFill>
                  <a:srgbClr val="F8FAFC"/>
                </a:solidFill>
                <a:latin typeface="Calibri (MS) Bold"/>
                <a:ea typeface="Calibri (MS) Bold"/>
                <a:cs typeface="Calibri (MS) Bold"/>
              </a:rPr>
              <a:t>• Interactive Serial Query: </a:t>
            </a:r>
            <a:r>
              <a:rPr lang="en-US" sz="1950">
                <a:solidFill>
                  <a:srgbClr val="94A3B8"/>
                </a:solidFill>
                <a:latin typeface="Calibri (MS)"/>
                <a:ea typeface="Calibri (MS)"/>
                <a:cs typeface="Calibri (MS)"/>
              </a:rPr>
              <a:t>UART terminal listens for command '123' to output logged EEPROM fault reports.</a:t>
            </a:r>
            <a:endParaRPr/>
          </a:p>
        </p:txBody>
      </p:sp>
      <p:grpSp>
        <p:nvGrpSpPr>
          <p:cNvPr id="2120061648" name="Group 7"/>
          <p:cNvGrpSpPr/>
          <p:nvPr/>
        </p:nvGrpSpPr>
        <p:grpSpPr bwMode="auto">
          <a:xfrm rot="0">
            <a:off x="9052560" y="2468880"/>
            <a:ext cx="8092440" cy="4516707"/>
            <a:chOff x="0" y="0"/>
            <a:chExt cx="10789920" cy="6022276"/>
          </a:xfrm>
        </p:grpSpPr>
        <p:sp>
          <p:nvSpPr>
            <p:cNvPr id="8" name="Freeform 8" descr="hardware_system_diagram.png"/>
            <p:cNvSpPr/>
            <p:nvPr/>
          </p:nvSpPr>
          <p:spPr bwMode="auto">
            <a:xfrm rot="0" flipH="0" flipV="0">
              <a:off x="0" y="0"/>
              <a:ext cx="10789920" cy="6022340"/>
            </a:xfrm>
            <a:custGeom>
              <a:avLst/>
              <a:gdLst/>
              <a:ahLst/>
              <a:cxnLst/>
              <a:rect l="l" t="t" r="r" b="b"/>
              <a:pathLst>
                <a:path w="10789920" h="6022340" fill="norm" stroke="1" extrusionOk="0">
                  <a:moveTo>
                    <a:pt x="0" y="0"/>
                  </a:moveTo>
                  <a:lnTo>
                    <a:pt x="10789920" y="0"/>
                  </a:lnTo>
                  <a:lnTo>
                    <a:pt x="10789920" y="6022340"/>
                  </a:lnTo>
                  <a:lnTo>
                    <a:pt x="0" y="60223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249187" name="TextBox 2"/>
          <p:cNvSpPr txBox="1"/>
          <p:nvPr/>
        </p:nvSpPr>
        <p:spPr bwMode="auto">
          <a:xfrm rot="0">
            <a:off x="1188720" y="575310"/>
            <a:ext cx="158648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/>
            </a:pPr>
            <a:r>
              <a:rPr lang="en-US" sz="1650" b="1">
                <a:solidFill>
                  <a:srgbClr val="38BDF8"/>
                </a:solidFill>
                <a:latin typeface="Arial Bold"/>
                <a:ea typeface="Arial Bold"/>
                <a:cs typeface="Arial Bold"/>
              </a:rPr>
              <a:t>GROUP 3 DIAGNOSTICS SERVICE</a:t>
            </a:r>
            <a:endParaRPr/>
          </a:p>
        </p:txBody>
      </p:sp>
      <p:sp>
        <p:nvSpPr>
          <p:cNvPr id="1683263839" name="TextBox 3"/>
          <p:cNvSpPr txBox="1"/>
          <p:nvPr/>
        </p:nvSpPr>
        <p:spPr bwMode="auto">
          <a:xfrm rot="0">
            <a:off x="1188720" y="996315"/>
            <a:ext cx="15864840" cy="61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defRPr/>
            </a:pPr>
            <a:r>
              <a:rPr lang="en-US" sz="3600" b="1">
                <a:solidFill>
                  <a:srgbClr val="F8FAFC"/>
                </a:solidFill>
                <a:latin typeface="Georgia Bold"/>
                <a:ea typeface="Georgia Bold"/>
                <a:cs typeface="Georgia Bold"/>
              </a:rPr>
              <a:t>Subsystem 1: LM35 Thermal Monitoring</a:t>
            </a:r>
            <a:endParaRPr/>
          </a:p>
        </p:txBody>
      </p:sp>
      <p:grpSp>
        <p:nvGrpSpPr>
          <p:cNvPr id="1417218964" name="Group 4"/>
          <p:cNvGrpSpPr/>
          <p:nvPr/>
        </p:nvGrpSpPr>
        <p:grpSpPr bwMode="auto">
          <a:xfrm rot="0">
            <a:off x="1097280" y="2057400"/>
            <a:ext cx="16092982" cy="38100"/>
            <a:chOff x="0" y="0"/>
            <a:chExt cx="21457309" cy="508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457286" cy="50800"/>
            </a:xfrm>
            <a:custGeom>
              <a:avLst/>
              <a:gdLst/>
              <a:ahLst/>
              <a:cxnLst/>
              <a:rect l="l" t="t" r="r" b="b"/>
              <a:pathLst>
                <a:path w="21457286" h="50800" fill="norm" stroke="1" extrusionOk="0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98875495" name="Group 6"/>
          <p:cNvGrpSpPr/>
          <p:nvPr/>
        </p:nvGrpSpPr>
        <p:grpSpPr bwMode="auto">
          <a:xfrm rot="0">
            <a:off x="1090136" y="2461736"/>
            <a:ext cx="7695247" cy="6872288"/>
            <a:chOff x="0" y="0"/>
            <a:chExt cx="10260330" cy="916305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0260330" cy="9163050"/>
            </a:xfrm>
            <a:custGeom>
              <a:avLst/>
              <a:gdLst/>
              <a:ahLst/>
              <a:cxnLst/>
              <a:rect l="l" t="t" r="r" b="b"/>
              <a:pathLst>
                <a:path w="10260330" h="9163050" fill="norm" stroke="1" extrusionOk="0">
                  <a:moveTo>
                    <a:pt x="0" y="1527175"/>
                  </a:moveTo>
                  <a:cubicBezTo>
                    <a:pt x="0" y="683768"/>
                    <a:pt x="683768" y="0"/>
                    <a:pt x="1527175" y="0"/>
                  </a:cubicBezTo>
                  <a:lnTo>
                    <a:pt x="8733155" y="0"/>
                  </a:lnTo>
                  <a:cubicBezTo>
                    <a:pt x="9576562" y="0"/>
                    <a:pt x="10260330" y="683768"/>
                    <a:pt x="10260330" y="1527175"/>
                  </a:cubicBezTo>
                  <a:lnTo>
                    <a:pt x="10260330" y="7635875"/>
                  </a:lnTo>
                  <a:cubicBezTo>
                    <a:pt x="10260330" y="8479282"/>
                    <a:pt x="9576562" y="9163050"/>
                    <a:pt x="8733155" y="9163050"/>
                  </a:cubicBezTo>
                  <a:lnTo>
                    <a:pt x="1527175" y="9163050"/>
                  </a:lnTo>
                  <a:cubicBezTo>
                    <a:pt x="683768" y="9163050"/>
                    <a:pt x="0" y="8479282"/>
                    <a:pt x="0" y="763587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id="1415805423" name="TextBox 8"/>
          <p:cNvSpPr txBox="1"/>
          <p:nvPr/>
        </p:nvSpPr>
        <p:spPr bwMode="auto">
          <a:xfrm rot="0">
            <a:off x="1463040" y="2722245"/>
            <a:ext cx="6949440" cy="570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defRPr/>
            </a:pPr>
            <a:r>
              <a:rPr lang="en-US" sz="3000" b="1">
                <a:solidFill>
                  <a:srgbClr val="FB923C"/>
                </a:solidFill>
                <a:latin typeface="Calibri (MS) Bold"/>
                <a:ea typeface="Calibri (MS) Bold"/>
                <a:cs typeface="Calibri (MS) Bold"/>
              </a:rPr>
              <a:t>🌡️ Thermal Sensing Specifications</a:t>
            </a:r>
            <a:endParaRPr/>
          </a:p>
          <a:p>
            <a:pPr algn="l">
              <a:lnSpc>
                <a:spcPts val="3510"/>
              </a:lnSpc>
              <a:defRPr/>
            </a:pPr>
            <a:endParaRPr lang="en-US" sz="3000" b="1">
              <a:solidFill>
                <a:srgbClr val="FB923C"/>
              </a:solidFill>
              <a:latin typeface="Calibri (MS) Bold"/>
              <a:ea typeface="Calibri (MS) Bold"/>
              <a:cs typeface="Calibri (MS) Bold"/>
            </a:endParaRPr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Hardware Setup: LM35 Sensor connected to ATmega32 ADC.</a:t>
            </a:r>
            <a:endParaRPr/>
          </a:p>
          <a:p>
            <a:pPr algn="l">
              <a:lnSpc>
                <a:spcPts val="3510"/>
              </a:lnSpc>
              <a:defRPr/>
            </a:pPr>
            <a:endParaRPr lang="en-US" sz="1950">
              <a:solidFill>
                <a:srgbClr val="F8FAFC"/>
              </a:solidFill>
              <a:latin typeface="Calibri (MS)"/>
              <a:ea typeface="Calibri (MS)"/>
              <a:cs typeface="Calibri (MS)"/>
            </a:endParaRPr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Safe Threshold Limit: 40°C</a:t>
            </a:r>
            <a:endParaRPr/>
          </a:p>
          <a:p>
            <a:pPr algn="l">
              <a:lnSpc>
                <a:spcPts val="3510"/>
              </a:lnSpc>
              <a:defRPr/>
            </a:pPr>
            <a:endParaRPr lang="en-US" sz="1950">
              <a:solidFill>
                <a:srgbClr val="F8FAFC"/>
              </a:solidFill>
              <a:latin typeface="Calibri (MS)"/>
              <a:ea typeface="Calibri (MS)"/>
              <a:cs typeface="Calibri (MS)"/>
            </a:endParaRPr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Diagnostic Logic: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- ADC converts analog thermal voltage to degrees Celsius.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- If Temperature &gt; 40°C: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    1. Red LED activates (Fault Alarm ON).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    2. DTC Code 0x50 is logged in internal EEPROM.</a:t>
            </a:r>
            <a:endParaRPr/>
          </a:p>
          <a:p>
            <a:pPr algn="l">
              <a:lnSpc>
                <a:spcPts val="3510"/>
              </a:lnSpc>
              <a:defRPr/>
            </a:pPr>
            <a:endParaRPr lang="en-US" sz="1950">
              <a:solidFill>
                <a:srgbClr val="F8FAFC"/>
              </a:solidFill>
              <a:latin typeface="Calibri (MS)"/>
              <a:ea typeface="Calibri (MS)"/>
              <a:cs typeface="Calibri (MS)"/>
            </a:endParaRPr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Safe State: Temp ≤ 40°C -&gt; Red LED OFF.</a:t>
            </a:r>
            <a:endParaRPr/>
          </a:p>
        </p:txBody>
      </p:sp>
      <p:grpSp>
        <p:nvGrpSpPr>
          <p:cNvPr id="1945776506" name="Group 9"/>
          <p:cNvGrpSpPr/>
          <p:nvPr/>
        </p:nvGrpSpPr>
        <p:grpSpPr bwMode="auto">
          <a:xfrm rot="0">
            <a:off x="9052560" y="2468880"/>
            <a:ext cx="8092440" cy="4516707"/>
            <a:chOff x="0" y="0"/>
            <a:chExt cx="10789920" cy="6022276"/>
          </a:xfrm>
        </p:grpSpPr>
        <p:sp>
          <p:nvSpPr>
            <p:cNvPr id="10" name="Freeform 10" descr="lm35_temperature_subsystem.png"/>
            <p:cNvSpPr/>
            <p:nvPr/>
          </p:nvSpPr>
          <p:spPr bwMode="auto">
            <a:xfrm rot="0" flipH="0" flipV="0">
              <a:off x="0" y="0"/>
              <a:ext cx="10789920" cy="6022340"/>
            </a:xfrm>
            <a:custGeom>
              <a:avLst/>
              <a:gdLst/>
              <a:ahLst/>
              <a:cxnLst/>
              <a:rect l="l" t="t" r="r" b="b"/>
              <a:pathLst>
                <a:path w="10789920" h="6022340" fill="norm" stroke="1" extrusionOk="0">
                  <a:moveTo>
                    <a:pt x="0" y="0"/>
                  </a:moveTo>
                  <a:lnTo>
                    <a:pt x="10789920" y="0"/>
                  </a:lnTo>
                  <a:lnTo>
                    <a:pt x="10789920" y="6022340"/>
                  </a:lnTo>
                  <a:lnTo>
                    <a:pt x="0" y="60223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99064" name="TextBox 2"/>
          <p:cNvSpPr txBox="1"/>
          <p:nvPr/>
        </p:nvSpPr>
        <p:spPr bwMode="auto">
          <a:xfrm rot="0">
            <a:off x="1188720" y="575310"/>
            <a:ext cx="158648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/>
            </a:pPr>
            <a:r>
              <a:rPr lang="en-US" sz="1650" b="1">
                <a:solidFill>
                  <a:srgbClr val="38BDF8"/>
                </a:solidFill>
                <a:latin typeface="Arial Bold"/>
                <a:ea typeface="Arial Bold"/>
                <a:cs typeface="Arial Bold"/>
              </a:rPr>
              <a:t>GROUP 3 DIAGNOSTICS SERVICE</a:t>
            </a:r>
            <a:endParaRPr/>
          </a:p>
        </p:txBody>
      </p:sp>
      <p:sp>
        <p:nvSpPr>
          <p:cNvPr id="1003427783" name="TextBox 3"/>
          <p:cNvSpPr txBox="1"/>
          <p:nvPr/>
        </p:nvSpPr>
        <p:spPr bwMode="auto">
          <a:xfrm rot="0">
            <a:off x="1188720" y="996315"/>
            <a:ext cx="15864840" cy="61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defRPr/>
            </a:pPr>
            <a:r>
              <a:rPr lang="en-US" sz="3600" b="1">
                <a:solidFill>
                  <a:srgbClr val="F8FAFC"/>
                </a:solidFill>
                <a:latin typeface="Georgia Bold"/>
                <a:ea typeface="Georgia Bold"/>
                <a:cs typeface="Georgia Bold"/>
              </a:rPr>
              <a:t>Subsystem 2: Potentiometer Monitoring</a:t>
            </a:r>
            <a:endParaRPr/>
          </a:p>
        </p:txBody>
      </p:sp>
      <p:grpSp>
        <p:nvGrpSpPr>
          <p:cNvPr id="1556979243" name="Group 4"/>
          <p:cNvGrpSpPr/>
          <p:nvPr/>
        </p:nvGrpSpPr>
        <p:grpSpPr bwMode="auto">
          <a:xfrm rot="0">
            <a:off x="1097280" y="2057400"/>
            <a:ext cx="16092982" cy="38100"/>
            <a:chOff x="0" y="0"/>
            <a:chExt cx="21457309" cy="508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457286" cy="50800"/>
            </a:xfrm>
            <a:custGeom>
              <a:avLst/>
              <a:gdLst/>
              <a:ahLst/>
              <a:cxnLst/>
              <a:rect l="l" t="t" r="r" b="b"/>
              <a:pathLst>
                <a:path w="21457286" h="50800" fill="norm" stroke="1" extrusionOk="0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162266457" name="Group 6"/>
          <p:cNvGrpSpPr/>
          <p:nvPr/>
        </p:nvGrpSpPr>
        <p:grpSpPr bwMode="auto">
          <a:xfrm rot="0">
            <a:off x="1090136" y="2461736"/>
            <a:ext cx="7695247" cy="6872288"/>
            <a:chOff x="0" y="0"/>
            <a:chExt cx="10260330" cy="916305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0260330" cy="9163050"/>
            </a:xfrm>
            <a:custGeom>
              <a:avLst/>
              <a:gdLst/>
              <a:ahLst/>
              <a:cxnLst/>
              <a:rect l="l" t="t" r="r" b="b"/>
              <a:pathLst>
                <a:path w="10260330" h="9163050" fill="norm" stroke="1" extrusionOk="0">
                  <a:moveTo>
                    <a:pt x="0" y="1527175"/>
                  </a:moveTo>
                  <a:cubicBezTo>
                    <a:pt x="0" y="683768"/>
                    <a:pt x="683768" y="0"/>
                    <a:pt x="1527175" y="0"/>
                  </a:cubicBezTo>
                  <a:lnTo>
                    <a:pt x="8733155" y="0"/>
                  </a:lnTo>
                  <a:cubicBezTo>
                    <a:pt x="9576562" y="0"/>
                    <a:pt x="10260330" y="683768"/>
                    <a:pt x="10260330" y="1527175"/>
                  </a:cubicBezTo>
                  <a:lnTo>
                    <a:pt x="10260330" y="7635875"/>
                  </a:lnTo>
                  <a:cubicBezTo>
                    <a:pt x="10260330" y="8479282"/>
                    <a:pt x="9576562" y="9163050"/>
                    <a:pt x="8733155" y="9163050"/>
                  </a:cubicBezTo>
                  <a:lnTo>
                    <a:pt x="1527175" y="9163050"/>
                  </a:lnTo>
                  <a:cubicBezTo>
                    <a:pt x="683768" y="9163050"/>
                    <a:pt x="0" y="8479282"/>
                    <a:pt x="0" y="763587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id="328637724" name="TextBox 8"/>
          <p:cNvSpPr txBox="1"/>
          <p:nvPr/>
        </p:nvSpPr>
        <p:spPr bwMode="auto">
          <a:xfrm rot="0">
            <a:off x="1463040" y="3038475"/>
            <a:ext cx="6949440" cy="526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defRPr/>
            </a:pPr>
            <a:r>
              <a:rPr lang="en-US" sz="3000" b="1">
                <a:solidFill>
                  <a:srgbClr val="38BDF8"/>
                </a:solidFill>
                <a:latin typeface="Calibri (MS) Bold"/>
                <a:ea typeface="Calibri (MS) Bold"/>
                <a:cs typeface="Calibri (MS) Bold"/>
              </a:rPr>
              <a:t>⚡ Voltage Fault Detection Logic</a:t>
            </a:r>
            <a:endParaRPr/>
          </a:p>
          <a:p>
            <a:pPr algn="l">
              <a:lnSpc>
                <a:spcPts val="3510"/>
              </a:lnSpc>
              <a:defRPr/>
            </a:pPr>
            <a:endParaRPr lang="en-US" sz="3000" b="1">
              <a:solidFill>
                <a:srgbClr val="38BDF8"/>
              </a:solidFill>
              <a:latin typeface="Calibri (MS) Bold"/>
              <a:ea typeface="Calibri (MS) Bold"/>
              <a:cs typeface="Calibri (MS) Bold"/>
            </a:endParaRPr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Hardware Setup: Precision Potentiometer via ADC channel.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Boundary Conditions: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1. Minimum Voltage (0V / Pot = 0):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   - Fault: 'No Current Detected'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   - DTC Code: 0x52 | Red LED ON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2. Maximum Voltage (5V / Pot = Max):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   - Fault: 'High Voltage / Overvoltage'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   - DTC Code: 0x51 | Red LED ON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• Normal Range (0V &lt; V &lt; 5V):</a:t>
            </a:r>
            <a:endParaRPr/>
          </a:p>
          <a:p>
            <a:pPr algn="l">
              <a:lnSpc>
                <a:spcPts val="3510"/>
              </a:lnSpc>
              <a:defRPr/>
            </a:pPr>
            <a:r>
              <a:rPr lang="en-US" sz="195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- System Safe -&gt; Red LED OFF.</a:t>
            </a:r>
            <a:endParaRPr/>
          </a:p>
        </p:txBody>
      </p:sp>
      <p:grpSp>
        <p:nvGrpSpPr>
          <p:cNvPr id="1187706556" name="Group 9"/>
          <p:cNvGrpSpPr/>
          <p:nvPr/>
        </p:nvGrpSpPr>
        <p:grpSpPr bwMode="auto">
          <a:xfrm rot="0">
            <a:off x="9052560" y="2468880"/>
            <a:ext cx="8092440" cy="4516707"/>
            <a:chOff x="0" y="0"/>
            <a:chExt cx="10789920" cy="6022276"/>
          </a:xfrm>
        </p:grpSpPr>
        <p:sp>
          <p:nvSpPr>
            <p:cNvPr id="10" name="Freeform 10" descr="potentiometer_voltage_subsystem.png"/>
            <p:cNvSpPr/>
            <p:nvPr/>
          </p:nvSpPr>
          <p:spPr bwMode="auto">
            <a:xfrm rot="0" flipH="0" flipV="0">
              <a:off x="0" y="0"/>
              <a:ext cx="10789920" cy="6022340"/>
            </a:xfrm>
            <a:custGeom>
              <a:avLst/>
              <a:gdLst/>
              <a:ahLst/>
              <a:cxnLst/>
              <a:rect l="l" t="t" r="r" b="b"/>
              <a:pathLst>
                <a:path w="10789920" h="6022340" fill="norm" stroke="1" extrusionOk="0">
                  <a:moveTo>
                    <a:pt x="0" y="0"/>
                  </a:moveTo>
                  <a:lnTo>
                    <a:pt x="10789920" y="0"/>
                  </a:lnTo>
                  <a:lnTo>
                    <a:pt x="10789920" y="6022340"/>
                  </a:lnTo>
                  <a:lnTo>
                    <a:pt x="0" y="60223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857623" name="TextBox 2"/>
          <p:cNvSpPr txBox="1"/>
          <p:nvPr/>
        </p:nvSpPr>
        <p:spPr bwMode="auto">
          <a:xfrm rot="0">
            <a:off x="1188720" y="575310"/>
            <a:ext cx="158648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/>
            </a:pPr>
            <a:r>
              <a:rPr lang="en-US" sz="1650" b="1">
                <a:solidFill>
                  <a:srgbClr val="38BDF8"/>
                </a:solidFill>
                <a:latin typeface="Arial Bold"/>
                <a:ea typeface="Arial Bold"/>
                <a:cs typeface="Arial Bold"/>
              </a:rPr>
              <a:t>GROUP 3 DIAGNOSTICS SERVICE</a:t>
            </a:r>
            <a:endParaRPr/>
          </a:p>
        </p:txBody>
      </p:sp>
      <p:sp>
        <p:nvSpPr>
          <p:cNvPr id="1717601147" name="TextBox 3"/>
          <p:cNvSpPr txBox="1"/>
          <p:nvPr/>
        </p:nvSpPr>
        <p:spPr bwMode="auto">
          <a:xfrm rot="0">
            <a:off x="1188720" y="996315"/>
            <a:ext cx="15864840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defRPr/>
            </a:pPr>
            <a:r>
              <a:rPr lang="en-US" sz="3600" b="1">
                <a:solidFill>
                  <a:srgbClr val="F8FAFC"/>
                </a:solidFill>
                <a:latin typeface="Georgia Bold"/>
                <a:ea typeface="Georgia Bold"/>
                <a:cs typeface="Georgia Bold"/>
              </a:rPr>
              <a:t>Diagnostic Trouble Code (DTC) Reference Table</a:t>
            </a:r>
            <a:endParaRPr/>
          </a:p>
        </p:txBody>
      </p:sp>
      <p:grpSp>
        <p:nvGrpSpPr>
          <p:cNvPr id="941152872" name="Group 4"/>
          <p:cNvGrpSpPr/>
          <p:nvPr/>
        </p:nvGrpSpPr>
        <p:grpSpPr bwMode="auto">
          <a:xfrm rot="0">
            <a:off x="1097280" y="2057400"/>
            <a:ext cx="16092982" cy="38100"/>
            <a:chOff x="0" y="0"/>
            <a:chExt cx="21457309" cy="508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457286" cy="50800"/>
            </a:xfrm>
            <a:custGeom>
              <a:avLst/>
              <a:gdLst/>
              <a:ahLst/>
              <a:cxnLst/>
              <a:rect l="l" t="t" r="r" b="b"/>
              <a:pathLst>
                <a:path w="21457286" h="50800" fill="norm" stroke="1" extrusionOk="0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aphicFrame>
        <p:nvGraphicFramePr>
          <p:cNvPr id="441638155" name="Table 6"/>
          <p:cNvGraphicFramePr>
            <a:graphicFrameLocks xmlns:a="http://schemas.openxmlformats.org/drawingml/2006/main" noGrp="1"/>
          </p:cNvGraphicFramePr>
          <p:nvPr/>
        </p:nvGraphicFramePr>
        <p:xfrm rot="0">
          <a:off x="1097280" y="2743200"/>
          <a:ext cx="16059150" cy="61722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737433"/>
                <a:gridCol w="4379893"/>
                <a:gridCol w="5930648"/>
                <a:gridCol w="3011175"/>
              </a:tblGrid>
              <a:tr h="1543050">
                <a:tc>
                  <a:txBody>
                    <a:bodyPr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</a:rPr>
                        <a:t>DTC Code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</a:rPr>
                        <a:t>Trigger Condition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</a:rPr>
                        <a:t>Fault Description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38BDF8"/>
                          </a:solidFill>
                          <a:latin typeface="Calibri (MS) Bold"/>
                          <a:ea typeface="Calibri (MS) Bold"/>
                          <a:cs typeface="Calibri (MS) Bold"/>
                        </a:rPr>
                        <a:t>Hardware Alarm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1543050">
                <a:tc>
                  <a:txBody>
                    <a:bodyPr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B923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0x52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Potentiometer at 0V (Minimum)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No Current Fault Detected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Red LED ON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1543050">
                <a:tc>
                  <a:txBody>
                    <a:bodyPr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B923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0x51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Potentiometer at 5V (Maximum)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High Voltage / Overvoltage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Red LED ON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1543050">
                <a:tc>
                  <a:txBody>
                    <a:bodyPr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B923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0x50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LM35 Temperature &gt; 40°C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High Temperature Warning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</a:rPr>
                        <a:t>Red LED ON</a:t>
                      </a:r>
                      <a:endParaRPr lang="en-US" sz="1100"/>
                    </a:p>
                  </a:txBody>
                  <a:tcPr marL="91440" marR="91440" marT="91440" marB="91440" anchor="t">
                    <a:lnL w="4762" algn="ctr">
                      <a:solidFill>
                        <a:srgbClr val="000000"/>
                      </a:solidFill>
                    </a:lnL>
                    <a:lnR w="4762" algn="ctr">
                      <a:solidFill>
                        <a:srgbClr val="000000"/>
                      </a:solidFill>
                    </a:lnR>
                    <a:lnT w="4762" algn="ctr">
                      <a:solidFill>
                        <a:srgbClr val="000000"/>
                      </a:solidFill>
                    </a:lnT>
                    <a:lnB w="4762" algn="ctr">
                      <a:solidFill>
                        <a:srgbClr val="000000"/>
                      </a:solidFill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387629" name="TextBox 2"/>
          <p:cNvSpPr txBox="1"/>
          <p:nvPr/>
        </p:nvSpPr>
        <p:spPr bwMode="auto">
          <a:xfrm rot="0">
            <a:off x="1188720" y="575310"/>
            <a:ext cx="158648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/>
            </a:pPr>
            <a:r>
              <a:rPr lang="en-US" sz="1650" b="1">
                <a:solidFill>
                  <a:srgbClr val="38BDF8"/>
                </a:solidFill>
                <a:latin typeface="Arial Bold"/>
                <a:ea typeface="Arial Bold"/>
                <a:cs typeface="Arial Bold"/>
              </a:rPr>
              <a:t>GROUP 3 DIAGNOSTICS SERVICE</a:t>
            </a:r>
            <a:endParaRPr/>
          </a:p>
        </p:txBody>
      </p:sp>
      <p:sp>
        <p:nvSpPr>
          <p:cNvPr id="1414846674" name="TextBox 3"/>
          <p:cNvSpPr txBox="1"/>
          <p:nvPr/>
        </p:nvSpPr>
        <p:spPr bwMode="auto">
          <a:xfrm rot="0">
            <a:off x="1188720" y="996315"/>
            <a:ext cx="15864840" cy="61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defRPr/>
            </a:pPr>
            <a:r>
              <a:rPr lang="en-US" sz="3600" b="1">
                <a:solidFill>
                  <a:srgbClr val="F8FAFC"/>
                </a:solidFill>
                <a:latin typeface="Georgia Bold"/>
                <a:ea typeface="Georgia Bold"/>
                <a:cs typeface="Georgia Bold"/>
              </a:rPr>
              <a:t>Subsystem 3: EEPROM Non-Volatile Memory</a:t>
            </a:r>
            <a:endParaRPr/>
          </a:p>
        </p:txBody>
      </p:sp>
      <p:grpSp>
        <p:nvGrpSpPr>
          <p:cNvPr id="1548332975" name="Group 4"/>
          <p:cNvGrpSpPr/>
          <p:nvPr/>
        </p:nvGrpSpPr>
        <p:grpSpPr bwMode="auto">
          <a:xfrm rot="0">
            <a:off x="1097280" y="2057400"/>
            <a:ext cx="16092982" cy="38100"/>
            <a:chOff x="0" y="0"/>
            <a:chExt cx="21457309" cy="508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457286" cy="50800"/>
            </a:xfrm>
            <a:custGeom>
              <a:avLst/>
              <a:gdLst/>
              <a:ahLst/>
              <a:cxnLst/>
              <a:rect l="l" t="t" r="r" b="b"/>
              <a:pathLst>
                <a:path w="21457286" h="50800" fill="norm" stroke="1" extrusionOk="0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865145999" name="Group 6"/>
          <p:cNvGrpSpPr/>
          <p:nvPr/>
        </p:nvGrpSpPr>
        <p:grpSpPr bwMode="auto">
          <a:xfrm rot="0">
            <a:off x="1090136" y="2461736"/>
            <a:ext cx="7695247" cy="6872288"/>
            <a:chOff x="0" y="0"/>
            <a:chExt cx="10260330" cy="916305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0260330" cy="9163050"/>
            </a:xfrm>
            <a:custGeom>
              <a:avLst/>
              <a:gdLst/>
              <a:ahLst/>
              <a:cxnLst/>
              <a:rect l="l" t="t" r="r" b="b"/>
              <a:pathLst>
                <a:path w="10260330" h="9163050" fill="norm" stroke="1" extrusionOk="0">
                  <a:moveTo>
                    <a:pt x="0" y="1527175"/>
                  </a:moveTo>
                  <a:cubicBezTo>
                    <a:pt x="0" y="683768"/>
                    <a:pt x="683768" y="0"/>
                    <a:pt x="1527175" y="0"/>
                  </a:cubicBezTo>
                  <a:lnTo>
                    <a:pt x="8733155" y="0"/>
                  </a:lnTo>
                  <a:cubicBezTo>
                    <a:pt x="9576562" y="0"/>
                    <a:pt x="10260330" y="683768"/>
                    <a:pt x="10260330" y="1527175"/>
                  </a:cubicBezTo>
                  <a:lnTo>
                    <a:pt x="10260330" y="7635875"/>
                  </a:lnTo>
                  <a:cubicBezTo>
                    <a:pt x="10260330" y="8479282"/>
                    <a:pt x="9576562" y="9163050"/>
                    <a:pt x="8733155" y="9163050"/>
                  </a:cubicBezTo>
                  <a:lnTo>
                    <a:pt x="1527175" y="9163050"/>
                  </a:lnTo>
                  <a:cubicBezTo>
                    <a:pt x="683768" y="9163050"/>
                    <a:pt x="0" y="8479282"/>
                    <a:pt x="0" y="763587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id="1347946003" name="TextBox 8"/>
          <p:cNvSpPr txBox="1"/>
          <p:nvPr/>
        </p:nvSpPr>
        <p:spPr bwMode="auto">
          <a:xfrm rot="0">
            <a:off x="1463040" y="2722244"/>
            <a:ext cx="6950879" cy="625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defRPr/>
            </a:pPr>
            <a:r>
              <a:rPr lang="en-US" sz="3000" b="1">
                <a:solidFill>
                  <a:srgbClr val="4ADE80"/>
                </a:solidFill>
                <a:latin typeface="Calibri (MS) Bold"/>
                <a:ea typeface="Calibri (MS) Bold"/>
                <a:cs typeface="Calibri (MS) Bold"/>
              </a:rPr>
              <a:t>💾 Non-Volatile DTC Storage Architecture</a:t>
            </a:r>
            <a:endParaRPr/>
          </a:p>
          <a:p>
            <a:pPr algn="l">
              <a:lnSpc>
                <a:spcPts val="3510"/>
              </a:lnSpc>
              <a:defRPr/>
            </a:pPr>
            <a:endParaRPr sz="3000" b="1">
              <a:solidFill>
                <a:schemeClr val="bg1"/>
              </a:solidFill>
              <a:latin typeface="Calibri (MS) Bold"/>
              <a:ea typeface="Calibri (MS) Bold"/>
              <a:cs typeface="Calibri (MS) Bold"/>
            </a:endParaRPr>
          </a:p>
          <a:p>
            <a:pPr marL="0" marR="0" indent="0"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50" b="0" i="0" u="none" strike="noStrike" cap="none" spc="0">
                <a:solidFill>
                  <a:schemeClr val="bg1"/>
                </a:solidFill>
                <a:latin typeface="Calibri (MS)"/>
                <a:ea typeface="Calibri (MS)"/>
                <a:cs typeface="Calibri (MS)"/>
              </a:rPr>
              <a:t>Persistent Error Logging — DTCs remain stored across system resets and power loss.</a:t>
            </a:r>
            <a:endParaRPr sz="1950" b="0" i="0" u="none" strike="noStrike" cap="none" spc="0">
              <a:solidFill>
                <a:schemeClr val="bg1"/>
              </a:solidFill>
              <a:latin typeface="Calibri (MS)"/>
              <a:cs typeface="Calibri (MS)"/>
            </a:endParaRPr>
          </a:p>
          <a:p>
            <a:pPr marL="0" marR="0" indent="0"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50" b="0" i="0" u="none" strike="noStrike" cap="none" spc="0">
                <a:solidFill>
                  <a:schemeClr val="bg1"/>
                </a:solidFill>
                <a:latin typeface="Calibri (MS)"/>
                <a:ea typeface="Calibri (MS)"/>
                <a:cs typeface="Calibri (MS)"/>
              </a:rPr>
              <a:t>Anti-Duplication Filter — Status flags ensure each fault is written only once, protecting EEPROM write-cycle lifespan.</a:t>
            </a:r>
            <a:endParaRPr sz="1950" b="0" i="0" u="none" strike="noStrike" cap="none" spc="0">
              <a:solidFill>
                <a:schemeClr val="bg1"/>
              </a:solidFill>
              <a:latin typeface="Calibri (MS)"/>
              <a:cs typeface="Calibri (MS)"/>
            </a:endParaRPr>
          </a:p>
          <a:p>
            <a:pPr marL="0" marR="0" indent="0"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50" b="0" i="0" u="none" strike="noStrike" cap="none" spc="0">
                <a:solidFill>
                  <a:schemeClr val="bg1"/>
                </a:solidFill>
                <a:latin typeface="Calibri (MS)"/>
                <a:ea typeface="Calibri (MS)"/>
                <a:cs typeface="Calibri (MS)"/>
              </a:rPr>
              <a:t>Modular Address Mapping — Each fault source (temp, high current, low current) has a dedicated EEPROM address and unique DTC code, enabling independent, concurrent fault logging.</a:t>
            </a:r>
            <a:endParaRPr sz="1950" b="0" i="0" u="none" strike="noStrike" cap="none" spc="0">
              <a:solidFill>
                <a:schemeClr val="bg1"/>
              </a:solidFill>
              <a:latin typeface="Calibri (MS)"/>
              <a:cs typeface="Calibri (MS)"/>
            </a:endParaRPr>
          </a:p>
          <a:p>
            <a:pPr marL="0" marR="0" indent="0"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50" b="0" i="0" u="none" strike="noStrike" cap="none" spc="0">
                <a:solidFill>
                  <a:schemeClr val="bg1"/>
                </a:solidFill>
                <a:latin typeface="Calibri (MS)"/>
                <a:ea typeface="Calibri (MS)"/>
                <a:cs typeface="Calibri (MS)"/>
              </a:rPr>
              <a:t>Write-Cycle Safety — Driver polls the EEWE hardware flag before completing a write, ensuring data integrity at the register level.</a:t>
            </a:r>
            <a:endParaRPr sz="1950" b="0" i="0" u="none" strike="noStrike" cap="none" spc="0">
              <a:solidFill>
                <a:schemeClr val="bg1"/>
              </a:solidFill>
              <a:latin typeface="Calibri (MS)"/>
              <a:cs typeface="Calibri (MS)"/>
            </a:endParaRPr>
          </a:p>
          <a:p>
            <a:pPr marL="0" marR="0" indent="0"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50" b="0" i="0" u="none" strike="noStrike" cap="none" spc="0">
                <a:solidFill>
                  <a:schemeClr val="bg1"/>
                </a:solidFill>
                <a:latin typeface="Calibri (MS)"/>
                <a:ea typeface="Calibri (MS)"/>
                <a:cs typeface="Calibri (MS)"/>
              </a:rPr>
              <a:t>UART-Integrated Retrieval — Stored DTCs are retrievable on-demand via a terminal command, enabling real-time diagnostics without reflashing.</a:t>
            </a:r>
            <a:endParaRPr/>
          </a:p>
        </p:txBody>
      </p:sp>
      <p:grpSp>
        <p:nvGrpSpPr>
          <p:cNvPr id="150308555" name="Group 9"/>
          <p:cNvGrpSpPr/>
          <p:nvPr/>
        </p:nvGrpSpPr>
        <p:grpSpPr bwMode="auto">
          <a:xfrm rot="0">
            <a:off x="9052560" y="2468880"/>
            <a:ext cx="8092440" cy="4516707"/>
            <a:chOff x="0" y="0"/>
            <a:chExt cx="10789920" cy="6022276"/>
          </a:xfrm>
        </p:grpSpPr>
        <p:sp>
          <p:nvSpPr>
            <p:cNvPr id="10" name="Freeform 10" descr="eeprom_storage_subsystem.png"/>
            <p:cNvSpPr/>
            <p:nvPr/>
          </p:nvSpPr>
          <p:spPr bwMode="auto">
            <a:xfrm rot="0" flipH="0" flipV="0">
              <a:off x="0" y="0"/>
              <a:ext cx="10789920" cy="6022340"/>
            </a:xfrm>
            <a:custGeom>
              <a:avLst/>
              <a:gdLst/>
              <a:ahLst/>
              <a:cxnLst/>
              <a:rect l="l" t="t" r="r" b="b"/>
              <a:pathLst>
                <a:path w="10789920" h="6022340" fill="norm" stroke="1" extrusionOk="0">
                  <a:moveTo>
                    <a:pt x="0" y="0"/>
                  </a:moveTo>
                  <a:lnTo>
                    <a:pt x="10789920" y="0"/>
                  </a:lnTo>
                  <a:lnTo>
                    <a:pt x="10789920" y="6022340"/>
                  </a:lnTo>
                  <a:lnTo>
                    <a:pt x="0" y="60223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36599" name="TextBox 2"/>
          <p:cNvSpPr txBox="1"/>
          <p:nvPr/>
        </p:nvSpPr>
        <p:spPr bwMode="auto">
          <a:xfrm rot="0">
            <a:off x="1188720" y="575310"/>
            <a:ext cx="158648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/>
            </a:pPr>
            <a:r>
              <a:rPr lang="en-US" sz="1650" b="1">
                <a:solidFill>
                  <a:srgbClr val="38BDF8"/>
                </a:solidFill>
                <a:latin typeface="Arial Bold"/>
                <a:ea typeface="Arial Bold"/>
                <a:cs typeface="Arial Bold"/>
              </a:rPr>
              <a:t>GROUP 3 DIAGNOSTICS SERVICE</a:t>
            </a:r>
            <a:endParaRPr/>
          </a:p>
        </p:txBody>
      </p:sp>
      <p:sp>
        <p:nvSpPr>
          <p:cNvPr id="330055814" name="TextBox 3"/>
          <p:cNvSpPr txBox="1"/>
          <p:nvPr/>
        </p:nvSpPr>
        <p:spPr bwMode="auto">
          <a:xfrm rot="0">
            <a:off x="1188720" y="996315"/>
            <a:ext cx="15864840" cy="61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defRPr/>
            </a:pPr>
            <a:r>
              <a:rPr lang="en-US" sz="3600" b="1">
                <a:solidFill>
                  <a:srgbClr val="F8FAFC"/>
                </a:solidFill>
                <a:latin typeface="Georgia Bold"/>
                <a:ea typeface="Georgia Bold"/>
                <a:cs typeface="Georgia Bold"/>
              </a:rPr>
              <a:t>Subsystem 4: UART Serial Terminal</a:t>
            </a:r>
            <a:endParaRPr/>
          </a:p>
        </p:txBody>
      </p:sp>
      <p:grpSp>
        <p:nvGrpSpPr>
          <p:cNvPr id="1141755659" name="Group 4"/>
          <p:cNvGrpSpPr/>
          <p:nvPr/>
        </p:nvGrpSpPr>
        <p:grpSpPr bwMode="auto">
          <a:xfrm rot="0">
            <a:off x="1097280" y="2057400"/>
            <a:ext cx="16092982" cy="38100"/>
            <a:chOff x="0" y="0"/>
            <a:chExt cx="21457309" cy="508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457286" cy="50800"/>
            </a:xfrm>
            <a:custGeom>
              <a:avLst/>
              <a:gdLst/>
              <a:ahLst/>
              <a:cxnLst/>
              <a:rect l="l" t="t" r="r" b="b"/>
              <a:pathLst>
                <a:path w="21457286" h="50800" fill="norm" stroke="1" extrusionOk="0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1027849550" name="Group 6"/>
          <p:cNvGrpSpPr/>
          <p:nvPr/>
        </p:nvGrpSpPr>
        <p:grpSpPr bwMode="auto">
          <a:xfrm rot="0">
            <a:off x="1090136" y="2461736"/>
            <a:ext cx="7695247" cy="6872288"/>
            <a:chOff x="0" y="0"/>
            <a:chExt cx="10260330" cy="916305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0260330" cy="9163050"/>
            </a:xfrm>
            <a:custGeom>
              <a:avLst/>
              <a:gdLst/>
              <a:ahLst/>
              <a:cxnLst/>
              <a:rect l="l" t="t" r="r" b="b"/>
              <a:pathLst>
                <a:path w="10260330" h="9163050" fill="norm" stroke="1" extrusionOk="0">
                  <a:moveTo>
                    <a:pt x="0" y="1527175"/>
                  </a:moveTo>
                  <a:cubicBezTo>
                    <a:pt x="0" y="683768"/>
                    <a:pt x="683768" y="0"/>
                    <a:pt x="1527175" y="0"/>
                  </a:cubicBezTo>
                  <a:lnTo>
                    <a:pt x="8733155" y="0"/>
                  </a:lnTo>
                  <a:cubicBezTo>
                    <a:pt x="9576562" y="0"/>
                    <a:pt x="10260330" y="683768"/>
                    <a:pt x="10260330" y="1527175"/>
                  </a:cubicBezTo>
                  <a:lnTo>
                    <a:pt x="10260330" y="7635875"/>
                  </a:lnTo>
                  <a:cubicBezTo>
                    <a:pt x="10260330" y="8479282"/>
                    <a:pt x="9576562" y="9163050"/>
                    <a:pt x="8733155" y="9163050"/>
                  </a:cubicBezTo>
                  <a:lnTo>
                    <a:pt x="1527175" y="9163050"/>
                  </a:lnTo>
                  <a:cubicBezTo>
                    <a:pt x="683768" y="9163050"/>
                    <a:pt x="0" y="8479282"/>
                    <a:pt x="0" y="763587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id="651976360" name="TextBox 8"/>
          <p:cNvSpPr txBox="1"/>
          <p:nvPr/>
        </p:nvSpPr>
        <p:spPr bwMode="auto">
          <a:xfrm rot="0">
            <a:off x="1463040" y="2722244"/>
            <a:ext cx="6950879" cy="342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defRPr/>
            </a:pPr>
            <a:r>
              <a:rPr lang="en-US" sz="3000" b="1">
                <a:solidFill>
                  <a:srgbClr val="38BDF8"/>
                </a:solidFill>
                <a:latin typeface="Calibri (MS) Bold"/>
                <a:ea typeface="Calibri (MS) Bold"/>
                <a:cs typeface="Calibri (MS) Bold"/>
              </a:rPr>
              <a:t>💻 Serial Diagnostics &amp; Interpreter</a:t>
            </a:r>
            <a:endParaRPr/>
          </a:p>
          <a:p>
            <a:pPr>
              <a:defRPr/>
            </a:pPr>
            <a:endParaRPr lang="en-US" sz="1950" b="0" i="0" u="none" strike="noStrike" cap="none" spc="0">
              <a:solidFill>
                <a:srgbClr val="F8FAFC"/>
              </a:solidFill>
              <a:latin typeface="Calibri (MS)"/>
              <a:cs typeface="Calibri (MS)"/>
            </a:endParaRPr>
          </a:p>
          <a:p>
            <a:pPr>
              <a:defRPr/>
            </a:pPr>
            <a:r>
              <a:rPr lang="en-US" sz="1950" b="0" i="0" u="none" strike="noStrike" cap="none" spc="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* Module: Hardware UART Driver &amp; Hall command Interpreter.</a:t>
            </a:r>
            <a:endParaRPr lang="en-US" sz="1950" b="0" i="0" u="none" strike="noStrike" cap="none" spc="0">
              <a:solidFill>
                <a:srgbClr val="F8FAFC"/>
              </a:solidFill>
              <a:latin typeface="Calibri (MS)"/>
              <a:cs typeface="Calibri (MS)"/>
            </a:endParaRPr>
          </a:p>
          <a:p>
            <a:pPr>
              <a:defRPr/>
            </a:pPr>
            <a:endParaRPr lang="en-US" sz="1950" b="0" i="0" u="none" strike="noStrike" cap="none" spc="0">
              <a:solidFill>
                <a:srgbClr val="F8FAFC"/>
              </a:solidFill>
              <a:latin typeface="Calibri (MS)"/>
              <a:cs typeface="Calibri (MS)"/>
            </a:endParaRPr>
          </a:p>
          <a:p>
            <a:pPr>
              <a:defRPr/>
            </a:pPr>
            <a:r>
              <a:rPr lang="en-US" sz="1950" b="0" i="0" u="none" strike="noStrike" cap="none" spc="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* Communication Protocol:</a:t>
            </a:r>
            <a:endParaRPr lang="en-US" sz="1950" b="0" i="0" u="none" strike="noStrike" cap="none" spc="0">
              <a:solidFill>
                <a:srgbClr val="F8FAFC"/>
              </a:solidFill>
              <a:latin typeface="Calibri (MS)"/>
              <a:cs typeface="Calibri (MS)"/>
            </a:endParaRPr>
          </a:p>
          <a:p>
            <a:pPr>
              <a:defRPr/>
            </a:pPr>
            <a:r>
              <a:rPr lang="en-US" sz="1950" b="0" i="0" u="none" strike="noStrike" cap="none" spc="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- idle: Listens for UART input from terminal</a:t>
            </a:r>
            <a:endParaRPr lang="en-US" sz="1950" b="0" i="0" u="none" strike="noStrike" cap="none" spc="0">
              <a:solidFill>
                <a:srgbClr val="F8FAFC"/>
              </a:solidFill>
              <a:latin typeface="Calibri (MS)"/>
              <a:cs typeface="Calibri (MS)"/>
            </a:endParaRPr>
          </a:p>
          <a:p>
            <a:pPr>
              <a:defRPr/>
            </a:pPr>
            <a:r>
              <a:rPr lang="en-US" sz="1950" b="0" i="0" u="none" strike="noStrike" cap="none" spc="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- Command Trigger: Input the password '123' from Virtual Terminal.</a:t>
            </a:r>
            <a:endParaRPr lang="en-US" sz="1950" b="0" i="0" u="none" strike="noStrike" cap="none" spc="0">
              <a:solidFill>
                <a:srgbClr val="F8FAFC"/>
              </a:solidFill>
              <a:latin typeface="Calibri (MS)"/>
              <a:cs typeface="Calibri (MS)"/>
            </a:endParaRPr>
          </a:p>
          <a:p>
            <a:pPr>
              <a:defRPr/>
            </a:pPr>
            <a:r>
              <a:rPr lang="en-US" sz="1950" b="0" i="0" u="none" strike="noStrike" cap="none" spc="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- Action: reads stored DTC entries from internal EEPROM.</a:t>
            </a:r>
            <a:endParaRPr lang="en-US" sz="1950" b="0" i="0" u="none" strike="noStrike" cap="none" spc="0">
              <a:solidFill>
                <a:srgbClr val="F8FAFC"/>
              </a:solidFill>
              <a:latin typeface="Calibri (MS)"/>
              <a:cs typeface="Calibri (MS)"/>
            </a:endParaRPr>
          </a:p>
          <a:p>
            <a:pPr algn="l">
              <a:lnSpc>
                <a:spcPts val="3510"/>
              </a:lnSpc>
              <a:defRPr/>
            </a:pPr>
            <a:r>
              <a:rPr lang="en-US" sz="1950" b="0" i="0" u="none" strike="noStrike" cap="none" spc="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 - Output: Formats and outputs clear human-readable error descriptions on the terminal screen.</a:t>
            </a:r>
            <a:endParaRPr/>
          </a:p>
        </p:txBody>
      </p:sp>
      <p:grpSp>
        <p:nvGrpSpPr>
          <p:cNvPr id="85613692" name="Group 9"/>
          <p:cNvGrpSpPr/>
          <p:nvPr/>
        </p:nvGrpSpPr>
        <p:grpSpPr bwMode="auto">
          <a:xfrm rot="0">
            <a:off x="9052560" y="2468880"/>
            <a:ext cx="8092440" cy="4516707"/>
            <a:chOff x="0" y="0"/>
            <a:chExt cx="10789920" cy="6022276"/>
          </a:xfrm>
        </p:grpSpPr>
        <p:sp>
          <p:nvSpPr>
            <p:cNvPr id="10" name="Freeform 10" descr="uart_terminal_subsystem.png"/>
            <p:cNvSpPr/>
            <p:nvPr/>
          </p:nvSpPr>
          <p:spPr bwMode="auto">
            <a:xfrm rot="0" flipH="0" flipV="0">
              <a:off x="0" y="0"/>
              <a:ext cx="10789920" cy="6022340"/>
            </a:xfrm>
            <a:custGeom>
              <a:avLst/>
              <a:gdLst/>
              <a:ahLst/>
              <a:cxnLst/>
              <a:rect l="l" t="t" r="r" b="b"/>
              <a:pathLst>
                <a:path w="10789920" h="6022340" fill="norm" stroke="1" extrusionOk="0">
                  <a:moveTo>
                    <a:pt x="0" y="0"/>
                  </a:moveTo>
                  <a:lnTo>
                    <a:pt x="10789920" y="0"/>
                  </a:lnTo>
                  <a:lnTo>
                    <a:pt x="10789920" y="6022340"/>
                  </a:lnTo>
                  <a:lnTo>
                    <a:pt x="0" y="60223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194090" name="TextBox 2"/>
          <p:cNvSpPr txBox="1"/>
          <p:nvPr/>
        </p:nvSpPr>
        <p:spPr bwMode="auto">
          <a:xfrm rot="0">
            <a:off x="1188720" y="575310"/>
            <a:ext cx="1586484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  <a:defRPr/>
            </a:pPr>
            <a:r>
              <a:rPr lang="en-US" sz="1650" b="1">
                <a:solidFill>
                  <a:srgbClr val="38BDF8"/>
                </a:solidFill>
                <a:latin typeface="Arial Bold"/>
                <a:ea typeface="Arial Bold"/>
                <a:cs typeface="Arial Bold"/>
              </a:rPr>
              <a:t>GROUP 3 DIAGNOSTICS SERVICE</a:t>
            </a:r>
            <a:endParaRPr/>
          </a:p>
        </p:txBody>
      </p:sp>
      <p:sp>
        <p:nvSpPr>
          <p:cNvPr id="1748075556" name="TextBox 3"/>
          <p:cNvSpPr txBox="1"/>
          <p:nvPr/>
        </p:nvSpPr>
        <p:spPr bwMode="auto">
          <a:xfrm rot="0">
            <a:off x="1188720" y="996315"/>
            <a:ext cx="15864840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defRPr/>
            </a:pPr>
            <a:r>
              <a:rPr lang="en-US" sz="3600" b="1">
                <a:solidFill>
                  <a:srgbClr val="F8FAFC"/>
                </a:solidFill>
                <a:latin typeface="Georgia Bold"/>
                <a:ea typeface="Georgia Bold"/>
                <a:cs typeface="Georgia Bold"/>
              </a:rPr>
              <a:t>Project Verification &amp; Summary</a:t>
            </a:r>
            <a:endParaRPr/>
          </a:p>
        </p:txBody>
      </p:sp>
      <p:grpSp>
        <p:nvGrpSpPr>
          <p:cNvPr id="656934759" name="Group 4"/>
          <p:cNvGrpSpPr/>
          <p:nvPr/>
        </p:nvGrpSpPr>
        <p:grpSpPr bwMode="auto">
          <a:xfrm rot="0">
            <a:off x="1097280" y="2057400"/>
            <a:ext cx="16092982" cy="38100"/>
            <a:chOff x="0" y="0"/>
            <a:chExt cx="21457309" cy="508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457286" cy="50800"/>
            </a:xfrm>
            <a:custGeom>
              <a:avLst/>
              <a:gdLst/>
              <a:ahLst/>
              <a:cxnLst/>
              <a:rect l="l" t="t" r="r" b="b"/>
              <a:pathLst>
                <a:path w="21457286" h="50800" fill="norm" stroke="1" extrusionOk="0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id="886728816" name="Group 6"/>
          <p:cNvGrpSpPr/>
          <p:nvPr/>
        </p:nvGrpSpPr>
        <p:grpSpPr bwMode="auto">
          <a:xfrm rot="0">
            <a:off x="2050256" y="2736056"/>
            <a:ext cx="14187030" cy="6597968"/>
            <a:chOff x="0" y="0"/>
            <a:chExt cx="18916040" cy="879729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8916014" cy="8797290"/>
            </a:xfrm>
            <a:custGeom>
              <a:avLst/>
              <a:gdLst/>
              <a:ahLst/>
              <a:cxnLst/>
              <a:rect l="l" t="t" r="r" b="b"/>
              <a:pathLst>
                <a:path w="18916014" h="8797290" fill="norm" stroke="1" extrusionOk="0">
                  <a:moveTo>
                    <a:pt x="0" y="1466215"/>
                  </a:moveTo>
                  <a:cubicBezTo>
                    <a:pt x="0" y="656463"/>
                    <a:pt x="656463" y="0"/>
                    <a:pt x="1466215" y="0"/>
                  </a:cubicBezTo>
                  <a:lnTo>
                    <a:pt x="17449800" y="0"/>
                  </a:lnTo>
                  <a:cubicBezTo>
                    <a:pt x="18259552" y="0"/>
                    <a:pt x="18916014" y="656463"/>
                    <a:pt x="18916014" y="1466215"/>
                  </a:cubicBezTo>
                  <a:lnTo>
                    <a:pt x="18916014" y="7331075"/>
                  </a:lnTo>
                  <a:cubicBezTo>
                    <a:pt x="18916014" y="8140827"/>
                    <a:pt x="18259552" y="8797290"/>
                    <a:pt x="17449800" y="8797290"/>
                  </a:cubicBezTo>
                  <a:lnTo>
                    <a:pt x="1466215" y="8797290"/>
                  </a:lnTo>
                  <a:cubicBezTo>
                    <a:pt x="656463" y="8797290"/>
                    <a:pt x="0" y="8140827"/>
                    <a:pt x="0" y="733107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id="708421529" name="TextBox 8"/>
          <p:cNvSpPr txBox="1"/>
          <p:nvPr/>
        </p:nvSpPr>
        <p:spPr bwMode="auto">
          <a:xfrm rot="0">
            <a:off x="2560320" y="3063240"/>
            <a:ext cx="13121640" cy="381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defRPr/>
            </a:pPr>
            <a:r>
              <a:rPr lang="en-US" sz="3300" b="1">
                <a:solidFill>
                  <a:srgbClr val="4ADE80"/>
                </a:solidFill>
                <a:latin typeface="Georgia Bold"/>
                <a:ea typeface="Georgia Bold"/>
                <a:cs typeface="Georgia Bold"/>
              </a:rPr>
              <a:t>Key Project Achievements</a:t>
            </a:r>
            <a:endParaRPr/>
          </a:p>
          <a:p>
            <a:pPr algn="l">
              <a:lnSpc>
                <a:spcPts val="3960"/>
              </a:lnSpc>
              <a:defRPr/>
            </a:pPr>
            <a:endParaRPr lang="en-US" sz="3300" b="1">
              <a:solidFill>
                <a:srgbClr val="4ADE80"/>
              </a:solidFill>
              <a:latin typeface="Georgia Bold"/>
              <a:ea typeface="Georgia Bold"/>
              <a:cs typeface="Georgia Bold"/>
            </a:endParaRPr>
          </a:p>
          <a:p>
            <a:pPr algn="l">
              <a:lnSpc>
                <a:spcPts val="2520"/>
              </a:lnSpc>
              <a:defRPr/>
            </a:pPr>
            <a:r>
              <a:rPr lang="en-US" sz="21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Complete Proteus Hardware Simulation (ATmega32, LM35, Potentiometer, Red LED, UART Terminal).</a:t>
            </a:r>
            <a:endParaRPr/>
          </a:p>
          <a:p>
            <a:pPr algn="l">
              <a:lnSpc>
                <a:spcPts val="2520"/>
              </a:lnSpc>
              <a:defRPr/>
            </a:pPr>
            <a:endParaRPr lang="en-US" sz="2100">
              <a:solidFill>
                <a:srgbClr val="F8FAFC"/>
              </a:solidFill>
              <a:latin typeface="Calibri (MS)"/>
              <a:ea typeface="Calibri (MS)"/>
              <a:cs typeface="Calibri (MS)"/>
            </a:endParaRPr>
          </a:p>
          <a:p>
            <a:pPr algn="l">
              <a:lnSpc>
                <a:spcPts val="2520"/>
              </a:lnSpc>
              <a:defRPr/>
            </a:pPr>
            <a:r>
              <a:rPr lang="en-US" sz="21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Real-time Diagnostic Sensing with instant visual alarm via Red LED.</a:t>
            </a:r>
            <a:endParaRPr/>
          </a:p>
          <a:p>
            <a:pPr algn="l">
              <a:lnSpc>
                <a:spcPts val="2520"/>
              </a:lnSpc>
              <a:defRPr/>
            </a:pPr>
            <a:endParaRPr lang="en-US" sz="2100">
              <a:solidFill>
                <a:srgbClr val="F8FAFC"/>
              </a:solidFill>
              <a:latin typeface="Calibri (MS)"/>
              <a:ea typeface="Calibri (MS)"/>
              <a:cs typeface="Calibri (MS)"/>
            </a:endParaRPr>
          </a:p>
          <a:p>
            <a:pPr algn="l">
              <a:lnSpc>
                <a:spcPts val="2520"/>
              </a:lnSpc>
              <a:defRPr/>
            </a:pPr>
            <a:r>
              <a:rPr lang="en-US" sz="21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Reliable DTC Logging (0x50, 0x51, 0x52) stored in Internal EEPROM.</a:t>
            </a:r>
            <a:endParaRPr/>
          </a:p>
          <a:p>
            <a:pPr algn="l">
              <a:lnSpc>
                <a:spcPts val="2520"/>
              </a:lnSpc>
              <a:defRPr/>
            </a:pPr>
            <a:endParaRPr lang="en-US" sz="2100">
              <a:solidFill>
                <a:srgbClr val="F8FAFC"/>
              </a:solidFill>
              <a:latin typeface="Calibri (MS)"/>
              <a:ea typeface="Calibri (MS)"/>
              <a:cs typeface="Calibri (MS)"/>
            </a:endParaRPr>
          </a:p>
          <a:p>
            <a:pPr algn="l">
              <a:lnSpc>
                <a:spcPts val="2520"/>
              </a:lnSpc>
              <a:defRPr/>
            </a:pPr>
            <a:r>
              <a:rPr lang="en-US" sz="21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Optimized Memory Logic: Non-redundant filtering prevents repeated EEPROM wear.</a:t>
            </a:r>
            <a:endParaRPr/>
          </a:p>
          <a:p>
            <a:pPr algn="l">
              <a:lnSpc>
                <a:spcPts val="2520"/>
              </a:lnSpc>
              <a:defRPr/>
            </a:pPr>
            <a:endParaRPr lang="en-US" sz="2100">
              <a:solidFill>
                <a:srgbClr val="F8FAFC"/>
              </a:solidFill>
              <a:latin typeface="Calibri (MS)"/>
              <a:ea typeface="Calibri (MS)"/>
              <a:cs typeface="Calibri (MS)"/>
            </a:endParaRPr>
          </a:p>
          <a:p>
            <a:pPr algn="l">
              <a:lnSpc>
                <a:spcPts val="2520"/>
              </a:lnSpc>
              <a:defRPr/>
            </a:pPr>
            <a:r>
              <a:rPr lang="en-US" sz="2100">
                <a:solidFill>
                  <a:srgbClr val="F8FAFC"/>
                </a:solidFill>
                <a:latin typeface="Calibri (MS)"/>
                <a:ea typeface="Calibri (MS)"/>
                <a:cs typeface="Calibri (MS)"/>
              </a:rPr>
              <a:t> Interactive Command Terminal: Instant diagnostic reports triggered via UART ('123').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diagnostics-service-presentation-v2.pptx</dc:title>
  <dc:identifier>DAHWH2VrRgk</dc:identifier>
  <cp:lastModifiedBy/>
  <cp:revision>3</cp:revision>
  <dcterms:created xsi:type="dcterms:W3CDTF">2006-08-16T00:00:00Z</dcterms:created>
  <dcterms:modified xsi:type="dcterms:W3CDTF">2026-09-24T19:02:35Z</dcterms:modified>
</cp:coreProperties>
</file>